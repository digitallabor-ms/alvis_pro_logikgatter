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7" r:id="rId2"/>
    <p:sldId id="257" r:id="rId3"/>
    <p:sldId id="268" r:id="rId4"/>
    <p:sldId id="272" r:id="rId5"/>
    <p:sldId id="271" r:id="rId6"/>
    <p:sldId id="273" r:id="rId7"/>
  </p:sldIdLst>
  <p:sldSz cx="14400213" cy="7199313"/>
  <p:notesSz cx="6858000" cy="9144000"/>
  <p:defaultTextStyle>
    <a:defPPr>
      <a:defRPr lang="de-DE"/>
    </a:defPPr>
    <a:lvl1pPr marL="0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1pPr>
    <a:lvl2pPr marL="617129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2pPr>
    <a:lvl3pPr marL="1234257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3pPr>
    <a:lvl4pPr marL="1851386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4pPr>
    <a:lvl5pPr marL="2468514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5pPr>
    <a:lvl6pPr marL="3085643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6pPr>
    <a:lvl7pPr marL="3702771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7pPr>
    <a:lvl8pPr marL="4319900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8pPr>
    <a:lvl9pPr marL="4937028" algn="l" defTabSz="1234257" rtl="0" eaLnBrk="1" latinLnBrk="0" hangingPunct="1">
      <a:defRPr sz="243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howGuides="1">
      <p:cViewPr varScale="1">
        <p:scale>
          <a:sx n="71" d="100"/>
          <a:sy n="71" d="100"/>
        </p:scale>
        <p:origin x="523" y="58"/>
      </p:cViewPr>
      <p:guideLst>
        <p:guide orient="horz" pos="2268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E34298-02D0-4EDC-9A15-E8DF08DCAF03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71583-FAD3-4CA9-8D33-E6326EC04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49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de-DE" sz="2800" dirty="0">
                <a:latin typeface="Arial" panose="020B0604020202020204" pitchFamily="34" charset="0"/>
              </a:rPr>
              <a:t>Erinnert ihr euch an Zustände? </a:t>
            </a:r>
            <a:endParaRPr lang="de-DE" altLang="de-DE" sz="25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2500" dirty="0">
                <a:latin typeface="Arial" panose="020B0604020202020204" pitchFamily="34" charset="0"/>
              </a:rPr>
              <a:t>Damit kann der Computer sich merken, ob ein Gleis gerade frei oder belegt ist.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500" dirty="0">
              <a:latin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71583-FAD3-4CA9-8D33-E6326EC049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444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200" dirty="0">
                <a:latin typeface="Arial" panose="020B0604020202020204" pitchFamily="34" charset="0"/>
              </a:rPr>
              <a:t>Was sind Funktionen?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71583-FAD3-4CA9-8D33-E6326EC049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8839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200" dirty="0">
                <a:latin typeface="Arial" panose="020B0604020202020204" pitchFamily="34" charset="0"/>
              </a:rPr>
              <a:t>Was sind Funktionen?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1200" dirty="0">
                <a:latin typeface="Arial" panose="020B0604020202020204" pitchFamily="34" charset="0"/>
              </a:rPr>
              <a:t>Oder in </a:t>
            </a:r>
            <a:r>
              <a:rPr lang="de-DE" altLang="de-DE" sz="1200" dirty="0" err="1">
                <a:latin typeface="Arial" panose="020B0604020202020204" pitchFamily="34" charset="0"/>
              </a:rPr>
              <a:t>Javascript</a:t>
            </a:r>
            <a:r>
              <a:rPr lang="de-DE" altLang="de-DE" sz="1200" baseline="0" dirty="0">
                <a:latin typeface="Arial" panose="020B0604020202020204" pitchFamily="34" charset="0"/>
              </a:rPr>
              <a:t> : Pipe nicht </a:t>
            </a:r>
            <a:r>
              <a:rPr lang="de-DE" altLang="de-DE" sz="1200" baseline="0">
                <a:latin typeface="Arial" panose="020B0604020202020204" pitchFamily="34" charset="0"/>
              </a:rPr>
              <a:t>i oder l</a:t>
            </a:r>
            <a:endParaRPr lang="de-DE" altLang="de-DE" sz="1200" dirty="0">
              <a:latin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571583-FAD3-4CA9-8D33-E6326EC049B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85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80016" y="2236454"/>
            <a:ext cx="12240181" cy="1543186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160032" y="4079611"/>
            <a:ext cx="10080149" cy="18398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99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99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99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98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9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9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9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9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665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24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37518" y="4626226"/>
            <a:ext cx="12240181" cy="1429864"/>
          </a:xfrm>
        </p:spPr>
        <p:txBody>
          <a:bodyPr anchor="t"/>
          <a:lstStyle>
            <a:lvl1pPr algn="l">
              <a:defRPr sz="4199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37518" y="3051377"/>
            <a:ext cx="12240181" cy="1574849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9969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95993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39906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19874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399843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79811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5978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39748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299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20011" y="1679840"/>
            <a:ext cx="6360094" cy="4751214"/>
          </a:xfrm>
        </p:spPr>
        <p:txBody>
          <a:bodyPr/>
          <a:lstStyle>
            <a:lvl1pPr>
              <a:defRPr sz="2939"/>
            </a:lvl1pPr>
            <a:lvl2pPr>
              <a:defRPr sz="2520"/>
            </a:lvl2pPr>
            <a:lvl3pPr>
              <a:defRPr sz="210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7320108" y="1679840"/>
            <a:ext cx="6360094" cy="4751214"/>
          </a:xfrm>
        </p:spPr>
        <p:txBody>
          <a:bodyPr/>
          <a:lstStyle>
            <a:lvl1pPr>
              <a:defRPr sz="2939"/>
            </a:lvl1pPr>
            <a:lvl2pPr>
              <a:defRPr sz="2520"/>
            </a:lvl2pPr>
            <a:lvl3pPr>
              <a:defRPr sz="210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626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0011" y="1611513"/>
            <a:ext cx="6362595" cy="671602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720011" y="2283115"/>
            <a:ext cx="6362595" cy="4147938"/>
          </a:xfrm>
        </p:spPr>
        <p:txBody>
          <a:bodyPr/>
          <a:lstStyle>
            <a:lvl1pPr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7315109" y="1611513"/>
            <a:ext cx="6365094" cy="671602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7315109" y="2283115"/>
            <a:ext cx="6365094" cy="4147938"/>
          </a:xfrm>
        </p:spPr>
        <p:txBody>
          <a:bodyPr/>
          <a:lstStyle>
            <a:lvl1pPr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466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98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9463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0011" y="286639"/>
            <a:ext cx="4737571" cy="1219884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630083" y="286640"/>
            <a:ext cx="8050119" cy="6144414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20011" y="1506523"/>
            <a:ext cx="4737571" cy="4924531"/>
          </a:xfrm>
        </p:spPr>
        <p:txBody>
          <a:bodyPr/>
          <a:lstStyle>
            <a:lvl1pPr marL="0" indent="0">
              <a:buNone/>
              <a:defRPr sz="1470"/>
            </a:lvl1pPr>
            <a:lvl2pPr marL="479969" indent="0">
              <a:buNone/>
              <a:defRPr sz="1260"/>
            </a:lvl2pPr>
            <a:lvl3pPr marL="959937" indent="0">
              <a:buNone/>
              <a:defRPr sz="1050"/>
            </a:lvl3pPr>
            <a:lvl4pPr marL="1439906" indent="0">
              <a:buNone/>
              <a:defRPr sz="945"/>
            </a:lvl4pPr>
            <a:lvl5pPr marL="1919874" indent="0">
              <a:buNone/>
              <a:defRPr sz="945"/>
            </a:lvl5pPr>
            <a:lvl6pPr marL="2399843" indent="0">
              <a:buNone/>
              <a:defRPr sz="945"/>
            </a:lvl6pPr>
            <a:lvl7pPr marL="2879811" indent="0">
              <a:buNone/>
              <a:defRPr sz="945"/>
            </a:lvl7pPr>
            <a:lvl8pPr marL="3359780" indent="0">
              <a:buNone/>
              <a:defRPr sz="945"/>
            </a:lvl8pPr>
            <a:lvl9pPr marL="3839748" indent="0">
              <a:buNone/>
              <a:defRPr sz="945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230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822542" y="5039519"/>
            <a:ext cx="8640128" cy="594944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822542" y="643272"/>
            <a:ext cx="8640128" cy="4319588"/>
          </a:xfrm>
        </p:spPr>
        <p:txBody>
          <a:bodyPr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822542" y="5634463"/>
            <a:ext cx="8640128" cy="844919"/>
          </a:xfrm>
        </p:spPr>
        <p:txBody>
          <a:bodyPr/>
          <a:lstStyle>
            <a:lvl1pPr marL="0" indent="0">
              <a:buNone/>
              <a:defRPr sz="1470"/>
            </a:lvl1pPr>
            <a:lvl2pPr marL="479969" indent="0">
              <a:buNone/>
              <a:defRPr sz="1260"/>
            </a:lvl2pPr>
            <a:lvl3pPr marL="959937" indent="0">
              <a:buNone/>
              <a:defRPr sz="1050"/>
            </a:lvl3pPr>
            <a:lvl4pPr marL="1439906" indent="0">
              <a:buNone/>
              <a:defRPr sz="945"/>
            </a:lvl4pPr>
            <a:lvl5pPr marL="1919874" indent="0">
              <a:buNone/>
              <a:defRPr sz="945"/>
            </a:lvl5pPr>
            <a:lvl6pPr marL="2399843" indent="0">
              <a:buNone/>
              <a:defRPr sz="945"/>
            </a:lvl6pPr>
            <a:lvl7pPr marL="2879811" indent="0">
              <a:buNone/>
              <a:defRPr sz="945"/>
            </a:lvl7pPr>
            <a:lvl8pPr marL="3359780" indent="0">
              <a:buNone/>
              <a:defRPr sz="945"/>
            </a:lvl8pPr>
            <a:lvl9pPr marL="3839748" indent="0">
              <a:buNone/>
              <a:defRPr sz="945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02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80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10440154" y="288307"/>
            <a:ext cx="3240048" cy="6142747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20011" y="288307"/>
            <a:ext cx="9480140" cy="6142747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946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20011" y="288306"/>
            <a:ext cx="12960192" cy="11998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0011" y="1679840"/>
            <a:ext cx="12960192" cy="4751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20011" y="6672697"/>
            <a:ext cx="336005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3D1EA-AA91-4E22-B541-29D7F2DFCBCD}" type="datetimeFigureOut">
              <a:rPr lang="de-DE" smtClean="0"/>
              <a:t>30.09.2025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920073" y="6672697"/>
            <a:ext cx="456006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320153" y="6672697"/>
            <a:ext cx="336005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70451-0D0E-4429-BA68-94AF1301E1D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95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59937" rtl="0" eaLnBrk="1" latinLnBrk="0" hangingPunct="1"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76" indent="-359976" algn="l" defTabSz="959937" rtl="0" eaLnBrk="1" latinLnBrk="0" hangingPunct="1">
        <a:spcBef>
          <a:spcPct val="20000"/>
        </a:spcBef>
        <a:buFont typeface="Arial" panose="020B0604020202020204" pitchFamily="34" charset="0"/>
        <a:buChar char="•"/>
        <a:defRPr sz="3359" kern="1200">
          <a:solidFill>
            <a:schemeClr val="tx1"/>
          </a:solidFill>
          <a:latin typeface="+mn-lt"/>
          <a:ea typeface="+mn-ea"/>
          <a:cs typeface="+mn-cs"/>
        </a:defRPr>
      </a:lvl1pPr>
      <a:lvl2pPr marL="779949" indent="-299980" algn="l" defTabSz="959937" rtl="0" eaLnBrk="1" latinLnBrk="0" hangingPunct="1">
        <a:spcBef>
          <a:spcPct val="20000"/>
        </a:spcBef>
        <a:buFont typeface="Arial" panose="020B0604020202020204" pitchFamily="34" charset="0"/>
        <a:buChar char="–"/>
        <a:defRPr sz="2939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spcBef>
          <a:spcPct val="200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spcBef>
          <a:spcPct val="20000"/>
        </a:spcBef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911" y="2340714"/>
            <a:ext cx="7393187" cy="1939268"/>
          </a:xfrm>
          <a:prstGeom prst="rect">
            <a:avLst/>
          </a:prstGeom>
        </p:spPr>
      </p:pic>
      <p:cxnSp>
        <p:nvCxnSpPr>
          <p:cNvPr id="13" name="Gerader Verbinder 12"/>
          <p:cNvCxnSpPr/>
          <p:nvPr/>
        </p:nvCxnSpPr>
        <p:spPr>
          <a:xfrm>
            <a:off x="0" y="6191944"/>
            <a:ext cx="141648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B6B3C6DD-8C94-0BC7-A02A-F79E0F6C30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180" y="6407968"/>
            <a:ext cx="2699702" cy="59283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AE08BFE-A4BB-CA81-41E2-6262C1D34F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012" y="6437232"/>
            <a:ext cx="2872486" cy="56357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4AFA500-E37A-C829-16DE-2F1F3BE96C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868" y="6352495"/>
            <a:ext cx="1801372" cy="73304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4167586-DA6C-94A9-2933-939EE8240C2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30" y="6548692"/>
            <a:ext cx="2232248" cy="34065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8AAD882-8082-24DA-C384-ED186BC69F0E}"/>
              </a:ext>
            </a:extLst>
          </p:cNvPr>
          <p:cNvSpPr txBox="1"/>
          <p:nvPr/>
        </p:nvSpPr>
        <p:spPr>
          <a:xfrm>
            <a:off x="215330" y="5849411"/>
            <a:ext cx="2662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Ein Projekt von: 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7C4D60E-9FC9-6A60-FAED-09A8D404D40D}"/>
              </a:ext>
            </a:extLst>
          </p:cNvPr>
          <p:cNvSpPr txBox="1"/>
          <p:nvPr/>
        </p:nvSpPr>
        <p:spPr>
          <a:xfrm>
            <a:off x="7776170" y="5849411"/>
            <a:ext cx="2160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Gefördert von: </a:t>
            </a:r>
          </a:p>
        </p:txBody>
      </p:sp>
    </p:spTree>
    <p:extLst>
      <p:ext uri="{BB962C8B-B14F-4D97-AF65-F5344CB8AC3E}">
        <p14:creationId xmlns:p14="http://schemas.microsoft.com/office/powerpoint/2010/main" val="217602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Einleitung – </a:t>
            </a:r>
            <a:r>
              <a:rPr lang="de-DE" dirty="0" err="1"/>
              <a:t>Calliope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3362" y="1626696"/>
            <a:ext cx="9146600" cy="4751213"/>
          </a:xfrm>
        </p:spPr>
        <p:txBody>
          <a:bodyPr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300" dirty="0">
              <a:latin typeface="Arial" panose="020B0604020202020204" pitchFamily="34" charset="0"/>
            </a:endParaRPr>
          </a:p>
          <a:p>
            <a:r>
              <a:rPr lang="de-DE" sz="2300" dirty="0"/>
              <a:t>Mini Computer </a:t>
            </a:r>
          </a:p>
          <a:p>
            <a:endParaRPr lang="de-DE" sz="2300" dirty="0"/>
          </a:p>
          <a:p>
            <a:r>
              <a:rPr lang="de-DE" sz="2300" dirty="0"/>
              <a:t>Selbst programmierbar</a:t>
            </a:r>
          </a:p>
          <a:p>
            <a:endParaRPr lang="de-DE" sz="2300" dirty="0"/>
          </a:p>
          <a:p>
            <a:r>
              <a:rPr lang="de-DE" sz="2300" dirty="0"/>
              <a:t>Viele eingebaute Sensoren </a:t>
            </a:r>
          </a:p>
          <a:p>
            <a:pPr lvl="1"/>
            <a:r>
              <a:rPr lang="de-DE" sz="2300" dirty="0"/>
              <a:t>Knöpfe, Lichtsensor, LEDs </a:t>
            </a:r>
          </a:p>
          <a:p>
            <a:pPr lvl="1"/>
            <a:endParaRPr lang="de-DE" sz="2300" dirty="0"/>
          </a:p>
          <a:p>
            <a:r>
              <a:rPr lang="de-DE" sz="2300" dirty="0"/>
              <a:t>Kann Dinge steuern</a:t>
            </a:r>
          </a:p>
          <a:p>
            <a:pPr lvl="1"/>
            <a:r>
              <a:rPr lang="de-DE" sz="2300" dirty="0"/>
              <a:t>Lichter aufleuchten lassen, Schranken hoch und runter fahren</a:t>
            </a:r>
          </a:p>
          <a:p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32354" y="2087488"/>
            <a:ext cx="3545399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1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Einleitung – Programmierung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3362" y="1626696"/>
            <a:ext cx="7416824" cy="4751213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Entwicklungsumgebung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Auch IDE genannt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Wird zum programmieren verwendet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31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10" dirty="0">
                <a:latin typeface="Arial" panose="020B0604020202020204" pitchFamily="34" charset="0"/>
              </a:rPr>
              <a:t>Möglichkeit, Blöcke zu erstellen oder echten Code zu schreiben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31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10" dirty="0">
                <a:latin typeface="Arial" panose="020B0604020202020204" pitchFamily="34" charset="0"/>
              </a:rPr>
              <a:t>Erstellung von Variablen und Funktionen möglich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310" dirty="0">
              <a:latin typeface="Arial" panose="020B0604020202020204" pitchFamily="34" charset="0"/>
            </a:endParaRP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021" y="1295400"/>
            <a:ext cx="4510810" cy="345638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266" y="3247458"/>
            <a:ext cx="5540725" cy="300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5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Variablen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15102" y="1351457"/>
            <a:ext cx="10225136" cy="5717376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Zustände beschreiben Situationen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z. B. „Gleis belegt“ oder „Gleis frei“.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3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2300" dirty="0"/>
              <a:t>Um Zustände zu speichern, nutzt man </a:t>
            </a:r>
            <a:r>
              <a:rPr lang="de-DE" sz="2300" b="1" dirty="0"/>
              <a:t>Variablen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3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Eine Variable ist also wie ein „Behälter“, in dem der Zustand abgelegt wird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300" b="1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2300" b="1" dirty="0">
                <a:latin typeface="Arial" panose="020B0604020202020204" pitchFamily="34" charset="0"/>
              </a:rPr>
              <a:t>Beispiel: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300" b="1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Zustand: </a:t>
            </a:r>
            <a:r>
              <a:rPr lang="de-DE" altLang="de-DE" sz="2300" i="1" dirty="0">
                <a:latin typeface="Arial" panose="020B0604020202020204" pitchFamily="34" charset="0"/>
              </a:rPr>
              <a:t>„Gleis belegt“	</a:t>
            </a:r>
            <a:r>
              <a:rPr lang="de-DE" altLang="de-DE" sz="2300" dirty="0">
                <a:latin typeface="Arial" panose="020B0604020202020204" pitchFamily="34" charset="0"/>
              </a:rPr>
              <a:t>Variable: „</a:t>
            </a:r>
            <a:r>
              <a:rPr lang="de-DE" altLang="de-DE" sz="2300" dirty="0">
                <a:latin typeface="Arial Unicode MS"/>
              </a:rPr>
              <a:t>belegt“</a:t>
            </a:r>
            <a:endParaRPr lang="de-DE" altLang="de-DE" sz="23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300" i="1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Werte: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 Unicode MS"/>
              </a:rPr>
              <a:t>1</a:t>
            </a:r>
            <a:r>
              <a:rPr lang="de-DE" altLang="de-DE" sz="2300" dirty="0"/>
              <a:t> = wahr → Gleis ist belegt</a:t>
            </a:r>
            <a:endParaRPr lang="de-DE" altLang="de-DE" sz="23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 Unicode MS"/>
              </a:rPr>
              <a:t>0</a:t>
            </a:r>
            <a:r>
              <a:rPr lang="de-DE" altLang="de-DE" sz="2300" dirty="0"/>
              <a:t> = falsch → Gleis ist frei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de-DE" altLang="de-DE" sz="2300" dirty="0">
              <a:latin typeface="Arial" panose="020B0604020202020204" pitchFamily="34" charset="0"/>
            </a:endParaRPr>
          </a:p>
          <a:p>
            <a:endParaRPr lang="de-DE" sz="2300" dirty="0"/>
          </a:p>
          <a:p>
            <a:endParaRPr lang="de-DE" sz="2300" dirty="0"/>
          </a:p>
          <a:p>
            <a:endParaRPr lang="de-DE" sz="23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514" y="2951584"/>
            <a:ext cx="3308143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97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Funktionen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3362" y="1626696"/>
            <a:ext cx="9146600" cy="4751213"/>
          </a:xfrm>
        </p:spPr>
        <p:txBody>
          <a:bodyPr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300" dirty="0">
              <a:latin typeface="Arial" panose="020B0604020202020204" pitchFamily="34" charset="0"/>
            </a:endParaRPr>
          </a:p>
          <a:p>
            <a:r>
              <a:rPr lang="de-DE" sz="2300" dirty="0"/>
              <a:t>Fassen zusammenhängende Aufgaben </a:t>
            </a:r>
          </a:p>
          <a:p>
            <a:pPr marL="0" indent="0">
              <a:buNone/>
            </a:pPr>
            <a:r>
              <a:rPr lang="de-DE" sz="2300" dirty="0"/>
              <a:t>     in einem Block zusammen</a:t>
            </a:r>
          </a:p>
          <a:p>
            <a:endParaRPr lang="de-DE" sz="2300" dirty="0"/>
          </a:p>
          <a:p>
            <a:r>
              <a:rPr lang="de-DE" sz="2300" dirty="0"/>
              <a:t>Vermeiden doppelten Code</a:t>
            </a:r>
          </a:p>
          <a:p>
            <a:endParaRPr lang="de-DE" sz="2300" dirty="0"/>
          </a:p>
          <a:p>
            <a:r>
              <a:rPr lang="de-DE" sz="2300" dirty="0"/>
              <a:t>Man kann einer Funktion Werte mitgeben</a:t>
            </a:r>
          </a:p>
          <a:p>
            <a:pPr marL="0" indent="0">
              <a:buNone/>
            </a:pPr>
            <a:r>
              <a:rPr lang="de-DE" sz="2300" dirty="0"/>
              <a:t>    (z. B. eine Zahl oder einen Text), damit sie</a:t>
            </a:r>
          </a:p>
          <a:p>
            <a:pPr marL="0" indent="0">
              <a:buNone/>
            </a:pPr>
            <a:r>
              <a:rPr lang="de-DE" sz="2300" dirty="0"/>
              <a:t>    damit arbeitet</a:t>
            </a:r>
          </a:p>
          <a:p>
            <a:endParaRPr lang="de-DE" sz="2300" dirty="0"/>
          </a:p>
          <a:p>
            <a:r>
              <a:rPr lang="de-DE" sz="2300" dirty="0"/>
              <a:t>Beispiele bei uns: </a:t>
            </a:r>
          </a:p>
          <a:p>
            <a:pPr lvl="1"/>
            <a:r>
              <a:rPr lang="de-DE" sz="2300" dirty="0"/>
              <a:t>Ampeln schalten</a:t>
            </a:r>
          </a:p>
          <a:p>
            <a:pPr lvl="1"/>
            <a:r>
              <a:rPr lang="de-DE" sz="2300" dirty="0"/>
              <a:t>Schranken steuern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10" y="1092696"/>
            <a:ext cx="4936048" cy="2223934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843" y="3564085"/>
            <a:ext cx="4167733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0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Logikgatter im Code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03362" y="1626697"/>
            <a:ext cx="9152016" cy="3197096"/>
          </a:xfrm>
        </p:spPr>
        <p:txBody>
          <a:bodyPr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Auch im Code können wir mit den gelernten Logikgattern arbeiten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sz="23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dirty="0">
                <a:latin typeface="Arial" panose="020B0604020202020204" pitchFamily="34" charset="0"/>
              </a:rPr>
              <a:t>Unterschiede je nach Programmiersprache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3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lang="de-DE" sz="2400" b="1" dirty="0"/>
              <a:t>Programmiersprachen</a:t>
            </a:r>
            <a:r>
              <a:rPr lang="de-DE" sz="2400" dirty="0"/>
              <a:t> sind verschiedene „Sprachen“, mit   denen wir Computern Befehle geben können.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endParaRPr lang="de-DE" altLang="de-DE" sz="2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sz="2400" dirty="0">
                <a:latin typeface="Arial" panose="020B0604020202020204" pitchFamily="34" charset="0"/>
              </a:rPr>
              <a:t> Zwei Beispiele: </a:t>
            </a:r>
            <a:endParaRPr lang="de-DE" altLang="de-DE" sz="23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sz="23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Ovale Legende 10"/>
          <p:cNvSpPr/>
          <p:nvPr/>
        </p:nvSpPr>
        <p:spPr>
          <a:xfrm>
            <a:off x="10512474" y="1799456"/>
            <a:ext cx="3732272" cy="295232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300" i="1" dirty="0">
                <a:solidFill>
                  <a:schemeClr val="bg1"/>
                </a:solidFill>
                <a:latin typeface="Arial" panose="020B0604020202020204" pitchFamily="34" charset="0"/>
              </a:rPr>
              <a:t> Das Logikgatter „UND“ wird in Python als „</a:t>
            </a:r>
            <a:r>
              <a:rPr lang="de-DE" altLang="de-DE" sz="2300" i="1" dirty="0" err="1">
                <a:solidFill>
                  <a:schemeClr val="bg1"/>
                </a:solidFill>
                <a:latin typeface="Arial Unicode MS"/>
              </a:rPr>
              <a:t>and</a:t>
            </a:r>
            <a:r>
              <a:rPr lang="de-DE" altLang="de-DE" sz="2300" i="1" dirty="0">
                <a:solidFill>
                  <a:schemeClr val="bg1"/>
                </a:solidFill>
                <a:latin typeface="Arial Unicode MS"/>
              </a:rPr>
              <a:t>“ geschrieben</a:t>
            </a:r>
            <a:r>
              <a:rPr lang="de-DE" altLang="de-DE" sz="2300" i="1" dirty="0">
                <a:solidFill>
                  <a:schemeClr val="bg1"/>
                </a:solidFill>
              </a:rPr>
              <a:t>, in JavaScript aber als </a:t>
            </a:r>
            <a:r>
              <a:rPr lang="de-DE" altLang="de-DE" sz="2300" i="1" dirty="0">
                <a:solidFill>
                  <a:schemeClr val="bg1"/>
                </a:solidFill>
                <a:latin typeface="Arial Unicode MS"/>
              </a:rPr>
              <a:t>&amp;&amp;</a:t>
            </a:r>
            <a:endParaRPr lang="de-DE" altLang="de-DE" sz="23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4967858" y="4962298"/>
            <a:ext cx="34958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400" u="sng" dirty="0" err="1">
                <a:latin typeface="Arial" panose="020B0604020202020204" pitchFamily="34" charset="0"/>
              </a:rPr>
              <a:t>Javascript</a:t>
            </a:r>
            <a:r>
              <a:rPr lang="de-DE" altLang="de-DE" sz="2400" dirty="0">
                <a:latin typeface="Arial" panose="020B0604020202020204" pitchFamily="34" charset="0"/>
              </a:rPr>
              <a:t>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400" dirty="0">
                <a:latin typeface="Arial" panose="020B0604020202020204" pitchFamily="34" charset="0"/>
              </a:rPr>
              <a:t>NICHT </a:t>
            </a:r>
            <a:r>
              <a:rPr lang="de-DE" altLang="de-DE" sz="24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de-DE" altLang="de-DE" sz="2400" dirty="0">
                <a:latin typeface="Arial" panose="020B0604020202020204" pitchFamily="34" charset="0"/>
              </a:rPr>
              <a:t> !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400" dirty="0">
                <a:latin typeface="Arial" panose="020B0604020202020204" pitchFamily="34" charset="0"/>
              </a:rPr>
              <a:t>UND </a:t>
            </a:r>
            <a:r>
              <a:rPr lang="de-DE" altLang="de-DE" sz="24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de-DE" altLang="de-DE" sz="2400" dirty="0">
                <a:latin typeface="Arial" panose="020B0604020202020204" pitchFamily="34" charset="0"/>
              </a:rPr>
              <a:t> &amp;&amp;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400" dirty="0">
                <a:latin typeface="Arial" panose="020B0604020202020204" pitchFamily="34" charset="0"/>
              </a:rPr>
              <a:t>ODER </a:t>
            </a:r>
            <a:r>
              <a:rPr lang="de-DE" altLang="de-DE" sz="24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de-DE" altLang="de-DE" sz="2400" dirty="0">
                <a:latin typeface="Arial" panose="020B0604020202020204" pitchFamily="34" charset="0"/>
              </a:rPr>
              <a:t> || </a:t>
            </a:r>
          </a:p>
          <a:p>
            <a:endParaRPr lang="de-DE" sz="2400" dirty="0"/>
          </a:p>
        </p:txBody>
      </p:sp>
      <p:sp>
        <p:nvSpPr>
          <p:cNvPr id="13" name="Rechteck 12"/>
          <p:cNvSpPr/>
          <p:nvPr/>
        </p:nvSpPr>
        <p:spPr>
          <a:xfrm>
            <a:off x="720011" y="4872346"/>
            <a:ext cx="30243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400" u="sng" dirty="0">
                <a:latin typeface="Arial" panose="020B0604020202020204" pitchFamily="34" charset="0"/>
              </a:rPr>
              <a:t>Python</a:t>
            </a:r>
            <a:r>
              <a:rPr lang="de-DE" altLang="de-DE" sz="2400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400" dirty="0">
                <a:latin typeface="Arial" panose="020B0604020202020204" pitchFamily="34" charset="0"/>
              </a:rPr>
              <a:t>NICHT </a:t>
            </a:r>
            <a:r>
              <a:rPr lang="de-DE" altLang="de-DE" sz="24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de-DE" altLang="de-DE" sz="2400" dirty="0">
                <a:latin typeface="Arial" panose="020B0604020202020204" pitchFamily="34" charset="0"/>
              </a:rPr>
              <a:t> not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400" dirty="0">
                <a:latin typeface="Arial" panose="020B0604020202020204" pitchFamily="34" charset="0"/>
              </a:rPr>
              <a:t>UND </a:t>
            </a:r>
            <a:r>
              <a:rPr lang="de-DE" altLang="de-DE" sz="24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 sz="2400" dirty="0" err="1">
                <a:latin typeface="Arial" panose="020B0604020202020204" pitchFamily="34" charset="0"/>
              </a:rPr>
              <a:t>and</a:t>
            </a:r>
            <a:endParaRPr lang="de-DE" altLang="de-DE" sz="24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2400" dirty="0">
                <a:latin typeface="Arial" panose="020B0604020202020204" pitchFamily="34" charset="0"/>
              </a:rPr>
              <a:t>ODER </a:t>
            </a:r>
            <a:r>
              <a:rPr lang="de-DE" altLang="de-DE" sz="24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e-DE" altLang="de-DE" sz="2400" dirty="0" err="1">
                <a:latin typeface="Arial" panose="020B0604020202020204" pitchFamily="34" charset="0"/>
              </a:rPr>
              <a:t>or</a:t>
            </a:r>
            <a:endParaRPr lang="de-DE" altLang="de-DE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622607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dt Münster Schrift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E08D7D98-44A6-4036-B989-31129E280B2A}" vid="{1FFB2BBD-5EA9-46E4-8E7E-912722323D4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292</Words>
  <Application>Microsoft Office PowerPoint</Application>
  <PresentationFormat>Benutzerdefiniert</PresentationFormat>
  <Paragraphs>79</Paragraphs>
  <Slides>6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Arial Unicode MS</vt:lpstr>
      <vt:lpstr>Calibri</vt:lpstr>
      <vt:lpstr>Wingdings</vt:lpstr>
      <vt:lpstr>Larissa</vt:lpstr>
      <vt:lpstr>PowerPoint-Präsentation</vt:lpstr>
      <vt:lpstr>Einleitung – Calliope</vt:lpstr>
      <vt:lpstr>Einleitung – Programmierung</vt:lpstr>
      <vt:lpstr>Variablen</vt:lpstr>
      <vt:lpstr>Funktionen</vt:lpstr>
      <vt:lpstr>Logikgatter im Code</vt:lpstr>
    </vt:vector>
  </TitlesOfParts>
  <Company>Stadt Münster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Annika Junge</dc:creator>
  <cp:lastModifiedBy>Rabea Griese</cp:lastModifiedBy>
  <cp:revision>47</cp:revision>
  <dcterms:created xsi:type="dcterms:W3CDTF">2025-08-18T10:27:12Z</dcterms:created>
  <dcterms:modified xsi:type="dcterms:W3CDTF">2025-09-30T14:48:13Z</dcterms:modified>
</cp:coreProperties>
</file>